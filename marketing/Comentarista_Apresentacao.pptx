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[~0:00-0:12] Comissões técnicas, analistas e diretores de futebol lidam, todo dia, com dados espalhados em planilhas soltas e na memória de quem viu o jogo. O Comentarista nasceu para resolver isso: uma plataforma única de gestão e análise de futebol — do treino de base à Copa do Mundo. [Mostrar: logo animando, transição para a tela de login real do sistema]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[~0:12-0:27] Escalação em uma planilha. Estatística em outra. A nota do jogador, na cabeça do técnico. Comparar duas temporadas ou fechar uma contratação vira trabalho manual — demorado, e sujeito a erro. [Mostrar: planilhas fictícias/caóticas na tela, depois corte seco para o sistema]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[~0:27-0:42] Um painel único mostra o que importa: total de times, jogadores, jogos e competições cadastradas, os últimos resultados e a classificação atualizada — tudo em um clique, com busca global para achar qualquer time, jogador ou competição na hora. [Mostrar: tela Home real do sistema, com busca funcionando]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[~0:42-1:00] Cadastro completo de times — escudo, cores, uniformes — e de jogadores, com posição, idade calculada automaticamente, nacionalidade e vínculo tanto com o clube quanto com a seleção nacional. Treinadores têm histórico de passagens por cada time, com datas. [Mostrar: tela de cadastro de jogador e de time]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[~1:00-1:18] Cada partida é registrada em detalhe: placar, pênaltis, estádio, árbitro. A escalação é posicionada visualmente no campo, por formação — 4-3-3, 5-2-3 — com titulares e substituições, gols, assistências e cartões associados a cada jogador. [Mostrar: tela de escalação/análise da partida real, arrastando jogadores no campo]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[~1:18-1:36] A nota de cada jogador pode ser calculada automaticamente, a partir de critérios configuráveis por peso — gol, assistência, desarme, cartão — ou ajustada manualmente. Cada usuário define seu próprio padrão de avaliação, e o histórico mostra a evolução partida a partida. [Mostrar: tela de critérios de nota e nota de um jogador real]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[~1:36-1:54] Dois relatórios pensados para quem recruta: o Geral, com estatísticas acumuladas por competição e temporada, e o Scout — busca avançada por posição, idade, nota mínima e métricas como passes-chave, duelos vencidos e finalizações no gol. [Mostrar: tela de Scout com filtros sendo aplicados ao vivo]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[~1:54-2:09] Brasileirão, Copa do Mundo, Libertadores, Champions League, Sul-Americana, Copa do Brasil — cada competição com sua estrutura própria de grupos ou mata-mata, múltiplas temporadas, e critérios de desempate oficiais aplicados automaticamente. [Mostrar: telas de tabela/chaveamento de 2-3 competições diferentes]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[~2:09-2:24] Integração com a API-Football sincroniza jogos, elencos, estatísticas e até as cores do uniforme automaticamente. O Transfermarkt complementa com dados de jogadores e treinadores — sem digitação manual. [Mostrar: tela de logs de sincronização real]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[~2:24-2:48] Login protegido, perfis de administrador, e critérios de avaliação próprios por usuário — cada analista trabalha com seu padrão, dentro do mesmo sistema. E o Comentarista foi feito para comissão técnica, analistas e comentaristas de futebol, e diretores de futebol e scouts — todo mundo que precisa transformar dado solto em decisão rápida. [Mostrar: tela de gerenciamento de usuários real]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[~2:48-2:58] Comentarista. Análise de futebol, sem planilha. Fale com a gente e leve essa inteligência para o seu clube ou sua produção. [Mostrar: logo final + call to action na tela, com contato/site real]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3200399"/>
            <a:ext cx="4754880" cy="4754880"/>
          </a:xfrm>
          <a:prstGeom prst="ellipse">
            <a:avLst/>
          </a:prstGeom>
          <a:noFill/>
          <a:ln w="12700">
            <a:solidFill>
              <a:srgbClr val="24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46259" y="4817059"/>
            <a:ext cx="1521561" cy="1521561"/>
          </a:xfrm>
          <a:prstGeom prst="ellipse">
            <a:avLst/>
          </a:prstGeom>
          <a:noFill/>
          <a:ln w="12700">
            <a:solidFill>
              <a:srgbClr val="24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229600" y="5577840"/>
            <a:ext cx="4754880" cy="0"/>
          </a:xfrm>
          <a:prstGeom prst="line">
            <a:avLst/>
          </a:prstGeom>
          <a:ln w="12700">
            <a:solidFill>
              <a:srgbClr val="24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173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85B7EB"/>
                </a:solidFill>
                <a:latin typeface="Calibri"/>
              </a:rPr>
              <a:t>PLATAFORMA DE GESTÃO E ANÁLISE DE FUTEBOL</a:t>
            </a:r>
          </a:p>
        </p:txBody>
      </p:sp>
      <p:sp>
        <p:nvSpPr>
          <p:cNvPr id="6" name="Oval 5"/>
          <p:cNvSpPr/>
          <p:nvPr/>
        </p:nvSpPr>
        <p:spPr>
          <a:xfrm>
            <a:off x="795527" y="2139696"/>
            <a:ext cx="566928" cy="566928"/>
          </a:xfrm>
          <a:prstGeom prst="ellipse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90" y="2275758"/>
            <a:ext cx="294802" cy="2948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81328" y="2084831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mbria"/>
              </a:rPr>
              <a:t>COMENTARISTA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CADCFC"/>
                </a:solidFill>
                <a:latin typeface="Calibri"/>
              </a:rPr>
              <a:t>Análise de futebol, sem planilha.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B9C5D6"/>
                </a:solidFill>
                <a:latin typeface="Calibri"/>
              </a:rPr>
              <a:t>Elenco, jogos, escalação tática, avaliação de jogadores, scout e competições — tudo em um só lugar, do amistoso de base à Copa do Mundo.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492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34924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Vídeo de apresentação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6B7280"/>
                </a:solidFill>
                <a:latin typeface="Calibri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1827"/>
                </a:solidFill>
                <a:latin typeface="Cambria"/>
              </a:rPr>
              <a:t>Dado espalhado não vira decisão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280"/>
                </a:solidFill>
                <a:latin typeface="Calibri"/>
              </a:rPr>
              <a:t>É assim que a maioria dos clubes e analistas ainda trabalha: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3246120" cy="31089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606039"/>
            <a:ext cx="822960" cy="82296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790" y="2803550"/>
            <a:ext cx="427939" cy="4279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3749039"/>
            <a:ext cx="26060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827"/>
                </a:solidFill>
                <a:latin typeface="Calibri"/>
              </a:rPr>
              <a:t>Planilhas soltas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297679"/>
            <a:ext cx="260603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Escalação, estatística e observações vivem em arquivos separados, sem conexão entre 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331720"/>
            <a:ext cx="3246120" cy="31089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2606039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950" y="2803550"/>
            <a:ext cx="427939" cy="4279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09159" y="3749039"/>
            <a:ext cx="26060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827"/>
                </a:solidFill>
                <a:latin typeface="Calibri"/>
              </a:rPr>
              <a:t>Avaliação sem histórico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4297679"/>
            <a:ext cx="260603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A nota do jogador fica na memória do técnico — difícil de comparar entre partidas ou temporadas.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331720"/>
            <a:ext cx="3246120" cy="31089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0" y="2606039"/>
            <a:ext cx="822960" cy="822960"/>
          </a:xfrm>
          <a:prstGeom prst="ellipse">
            <a:avLst/>
          </a:prstGeom>
          <a:solidFill>
            <a:srgbClr val="1A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7110" y="2803550"/>
            <a:ext cx="427939" cy="4279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75319" y="3749039"/>
            <a:ext cx="26060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827"/>
                </a:solidFill>
                <a:latin typeface="Calibri"/>
              </a:rPr>
              <a:t>Scout manual e lento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4297679"/>
            <a:ext cx="260603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Fechar uma contratação exige cruzar dados na mão, com risco alto de erro e demora.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20">
                <a:solidFill>
                  <a:srgbClr val="9CA3AF"/>
                </a:solidFill>
                <a:latin typeface="Calibri"/>
              </a:rPr>
              <a:t>COMENTARISTA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CA3AF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6B7280"/>
                </a:solidFill>
                <a:latin typeface="Calibri"/>
              </a:rPr>
              <a:t>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0467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1827"/>
                </a:solidFill>
                <a:latin typeface="Cambria"/>
              </a:rPr>
              <a:t>Um painel único para começar o 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280"/>
                </a:solidFill>
                <a:latin typeface="Calibri"/>
              </a:rPr>
              <a:t>Estatísticas, últimos resultados e classificação — sem procurar em lugar nenhum.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2377440" cy="105156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93976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78ADD"/>
                </a:solidFill>
                <a:latin typeface="Cambria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5877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Times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965960"/>
            <a:ext cx="2377440" cy="105156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2463" y="2093976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6A34A"/>
                </a:solidFill>
                <a:latin typeface="Cambria"/>
              </a:rPr>
              <a:t>1.240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2463" y="25877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Jogadores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9904" y="1965960"/>
            <a:ext cx="2377440" cy="105156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2093976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97706"/>
                </a:solidFill>
                <a:latin typeface="Cambria"/>
              </a:rPr>
              <a:t>612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5877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Jogos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3376" y="1965960"/>
            <a:ext cx="2377440" cy="105156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8" y="2093976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6B21A8"/>
                </a:solidFill>
                <a:latin typeface="Cambria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25877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Competições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246120"/>
            <a:ext cx="507492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4472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Calibri"/>
              </a:rPr>
              <a:t>Jogos recentes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3904487"/>
            <a:ext cx="274320" cy="2743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81328" y="3913631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11827"/>
                </a:solidFill>
                <a:latin typeface="Calibri"/>
              </a:rPr>
              <a:t>Flamengo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3877055"/>
            <a:ext cx="868680" cy="329184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3922775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11827"/>
                </a:solidFill>
                <a:latin typeface="Calibri"/>
              </a:rPr>
              <a:t>2 x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3913631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11827"/>
                </a:solidFill>
                <a:latin typeface="Calibri"/>
              </a:rPr>
              <a:t>Palmeiras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" y="4471416"/>
            <a:ext cx="274320" cy="27432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81328" y="448055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11827"/>
                </a:solidFill>
                <a:latin typeface="Calibri"/>
              </a:rPr>
              <a:t>São Paulo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63240" y="4443983"/>
            <a:ext cx="868680" cy="329184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4489703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11827"/>
                </a:solidFill>
                <a:latin typeface="Calibri"/>
              </a:rPr>
              <a:t>0 x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448055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11827"/>
                </a:solidFill>
                <a:latin typeface="Calibri"/>
              </a:rPr>
              <a:t>Grêmio</a:t>
            </a:r>
          </a:p>
        </p:txBody>
      </p:sp>
      <p:sp>
        <p:nvSpPr>
          <p:cNvPr id="29" name="Oval 28"/>
          <p:cNvSpPr/>
          <p:nvPr/>
        </p:nvSpPr>
        <p:spPr>
          <a:xfrm>
            <a:off x="1097280" y="5038344"/>
            <a:ext cx="274320" cy="27432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81328" y="50474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11827"/>
                </a:solidFill>
                <a:latin typeface="Calibri"/>
              </a:rPr>
              <a:t>Corinthians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5010912"/>
            <a:ext cx="868680" cy="329184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63240" y="5056631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11827"/>
                </a:solidFill>
                <a:latin typeface="Calibri"/>
              </a:rPr>
              <a:t>1 x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50474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11827"/>
                </a:solidFill>
                <a:latin typeface="Calibri"/>
              </a:rPr>
              <a:t>Santos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246120"/>
            <a:ext cx="507492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4472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Calibri"/>
              </a:rPr>
              <a:t>Classificação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904487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7706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904487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11827"/>
                </a:solidFill>
                <a:latin typeface="Calibri"/>
              </a:rPr>
              <a:t>Botafogo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32720" y="3867911"/>
            <a:ext cx="868680" cy="347472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20" y="3913631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A6DB5"/>
                </a:solidFill>
                <a:latin typeface="Calibri"/>
              </a:rPr>
              <a:t>68 pts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41655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CA3A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441655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11827"/>
                </a:solidFill>
                <a:latin typeface="Calibri"/>
              </a:rPr>
              <a:t>Flamengo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4379976"/>
            <a:ext cx="868680" cy="347472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32720" y="4425696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A6DB5"/>
                </a:solidFill>
                <a:latin typeface="Calibri"/>
              </a:rPr>
              <a:t>64 pts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92861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CA3AF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92861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11827"/>
                </a:solidFill>
                <a:latin typeface="Calibri"/>
              </a:rPr>
              <a:t>Palmeiras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32720" y="4892040"/>
            <a:ext cx="868680" cy="347472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32720" y="493776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A6DB5"/>
                </a:solidFill>
                <a:latin typeface="Calibri"/>
              </a:rPr>
              <a:t>61 pts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54406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1C1C"/>
                </a:solidFill>
                <a:latin typeface="Calibr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5440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11827"/>
                </a:solidFill>
                <a:latin typeface="Calibri"/>
              </a:rPr>
              <a:t>Fortaleza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332720" y="5404104"/>
            <a:ext cx="868680" cy="347472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32720" y="5449824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A6DB5"/>
                </a:solidFill>
                <a:latin typeface="Calibri"/>
              </a:rPr>
              <a:t>55 pts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20">
                <a:solidFill>
                  <a:srgbClr val="9CA3AF"/>
                </a:solidFill>
                <a:latin typeface="Calibri"/>
              </a:rPr>
              <a:t>COMENTARISTA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CA3AF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6B7280"/>
                </a:solidFill>
                <a:latin typeface="Calibri"/>
              </a:rPr>
              <a:t>GESTÃO DE ELENCO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1827"/>
                </a:solidFill>
                <a:latin typeface="Cambria"/>
              </a:rPr>
              <a:t>Times, jogadores e treinadores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280"/>
                </a:solidFill>
                <a:latin typeface="Calibri"/>
              </a:rPr>
              <a:t>Cadastro completo, sempre atualizado — vínculo com clube e seleção nacional ao mesmo tempo.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3246120" cy="33375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423160"/>
            <a:ext cx="822960" cy="822960"/>
          </a:xfrm>
          <a:prstGeom prst="ellipse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790" y="2620670"/>
            <a:ext cx="427939" cy="4279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3566160"/>
            <a:ext cx="2606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11827"/>
                </a:solidFill>
                <a:latin typeface="Calibri"/>
              </a:rPr>
              <a:t>Times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069080"/>
            <a:ext cx="2606039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Escudo, cores, uniforme principal e reserva, formação padrão do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48840"/>
            <a:ext cx="3246120" cy="33375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2423160"/>
            <a:ext cx="822960" cy="8229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950" y="2620670"/>
            <a:ext cx="427939" cy="4279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09159" y="3566160"/>
            <a:ext cx="2606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11827"/>
                </a:solidFill>
                <a:latin typeface="Calibri"/>
              </a:rPr>
              <a:t>Jogadores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4069080"/>
            <a:ext cx="2606039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Posição, idade calculada automaticamente, nacionalidade e número da camisa.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148840"/>
            <a:ext cx="3246120" cy="333756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0" y="2423160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110" y="2620670"/>
            <a:ext cx="427939" cy="4279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75319" y="3566160"/>
            <a:ext cx="2606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11827"/>
                </a:solidFill>
                <a:latin typeface="Calibri"/>
              </a:rPr>
              <a:t>Treinadores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4069080"/>
            <a:ext cx="2606039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Histórico de passagens por cada time, com datas de início e fim.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7900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2A6DB5"/>
                </a:solidFill>
                <a:latin typeface="Calibri"/>
              </a:rPr>
              <a:t>Um jogador pode pertencer a um clube e a uma seleção nacional ao mesmo tempo — sem duplicar cadastro.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20">
                <a:solidFill>
                  <a:srgbClr val="9CA3AF"/>
                </a:solidFill>
                <a:latin typeface="Calibri"/>
              </a:rPr>
              <a:t>COMENTARISTA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CA3AF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6B7280"/>
                </a:solidFill>
                <a:latin typeface="Calibri"/>
              </a:rPr>
              <a:t>PARTIDAS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0" y="86868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11827"/>
                </a:solidFill>
                <a:latin typeface="Cambria"/>
              </a:rPr>
              <a:t>Cada jogo, registrado em detalhe</a:t>
            </a:r>
          </a:p>
        </p:txBody>
      </p:sp>
      <p:pic>
        <p:nvPicPr>
          <p:cNvPr id="4" name="Picture 3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267712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224028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Placar, pênaltis, estádio e árbitro</a:t>
            </a:r>
          </a:p>
        </p:txBody>
      </p:sp>
      <p:pic>
        <p:nvPicPr>
          <p:cNvPr id="6" name="Picture 5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980944"/>
            <a:ext cx="25603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03720" y="2953512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Escalação posicionada visualmente no campo, por formação (4-3-3, 5-2-3...)</a:t>
            </a:r>
          </a:p>
        </p:txBody>
      </p:sp>
      <p:pic>
        <p:nvPicPr>
          <p:cNvPr id="8" name="Picture 7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694176"/>
            <a:ext cx="256032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3666744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Titulares e substituições ao longo da partida</a:t>
            </a:r>
          </a:p>
        </p:txBody>
      </p:sp>
      <p:pic>
        <p:nvPicPr>
          <p:cNvPr id="10" name="Picture 9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4407408"/>
            <a:ext cx="25603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437997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11827"/>
                </a:solidFill>
                <a:latin typeface="Calibri"/>
              </a:rPr>
              <a:t>Gols, assistências e cartões vinculados a cada jogador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868680"/>
            <a:ext cx="5120640" cy="5212080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40279" y="2468879"/>
            <a:ext cx="2011680" cy="2011680"/>
          </a:xfrm>
          <a:prstGeom prst="ellipse">
            <a:avLst/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822960" y="3474720"/>
            <a:ext cx="4846319" cy="0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22960" y="2651760"/>
            <a:ext cx="457200" cy="1645920"/>
          </a:xfrm>
          <a:prstGeom prst="rect">
            <a:avLst/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79" y="2651760"/>
            <a:ext cx="457200" cy="1645920"/>
          </a:xfrm>
          <a:prstGeom prst="rect">
            <a:avLst/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99815" y="5517489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66036" y="4631436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87751" y="4787798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11879" y="4787798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33595" y="4631436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75687" y="3432657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99815" y="3589020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23944" y="3432657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19656" y="1869033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099815" y="1660550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79975" y="1869033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6235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Formação 4-3-3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20">
                <a:solidFill>
                  <a:srgbClr val="9CA3AF"/>
                </a:solidFill>
                <a:latin typeface="Calibri"/>
              </a:rPr>
              <a:t>COMENTARISTA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CA3AF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6B7280"/>
                </a:solidFill>
                <a:latin typeface="Calibri"/>
              </a:rPr>
              <a:t>AVALIAÇÃO DE DESEMPENHO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1827"/>
                </a:solidFill>
                <a:latin typeface="Cambria"/>
              </a:rPr>
              <a:t>Nota do jogador, sem achismo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280"/>
                </a:solidFill>
                <a:latin typeface="Calibri"/>
              </a:rPr>
              <a:t>Critérios configuráveis por peso — automáticos ou ajustados manualmente.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5212080" cy="35661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Calibri"/>
              </a:rPr>
              <a:t>Critérios de nota (peso por usuário)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5468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11827"/>
                </a:solidFill>
                <a:latin typeface="Calibri"/>
              </a:rPr>
              <a:t>Gol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3182112"/>
            <a:ext cx="2468880" cy="20116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3182112"/>
            <a:ext cx="2271369" cy="20116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31546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+0.92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76472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11827"/>
                </a:solidFill>
                <a:latin typeface="Calibri"/>
              </a:rPr>
              <a:t>Assistência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3803904"/>
            <a:ext cx="2468880" cy="20116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3803904"/>
            <a:ext cx="1728216" cy="201168"/>
          </a:xfrm>
          <a:prstGeom prst="roundRect">
            <a:avLst>
              <a:gd name="adj" fmla="val 50000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377647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+0.70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98264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11827"/>
                </a:solidFill>
                <a:latin typeface="Calibri"/>
              </a:rPr>
              <a:t>Desarme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4425696"/>
            <a:ext cx="2468880" cy="20116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26080" y="4425696"/>
            <a:ext cx="1110996" cy="20116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43982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+0.45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020055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11827"/>
                </a:solidFill>
                <a:latin typeface="Calibri"/>
              </a:rPr>
              <a:t>Cartão amarelo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5047488"/>
            <a:ext cx="2468880" cy="20116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26080" y="5047488"/>
            <a:ext cx="864108" cy="20116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5020055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-0.35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286000"/>
            <a:ext cx="5074920" cy="35661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70748" y="2994660"/>
            <a:ext cx="1051560" cy="1051560"/>
          </a:xfrm>
          <a:prstGeom prst="ellipse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3122" y="3247034"/>
            <a:ext cx="546811" cy="54681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63640" y="425196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8.4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937760"/>
            <a:ext cx="4343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B9C5D6"/>
                </a:solidFill>
                <a:latin typeface="Calibri"/>
              </a:rPr>
              <a:t>Nota calculada automaticamente a partir das ações da partida — com opção de ajuste manual e histórico de evolução por temporada.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20">
                <a:solidFill>
                  <a:srgbClr val="9CA3AF"/>
                </a:solidFill>
                <a:latin typeface="Calibri"/>
              </a:rPr>
              <a:t>COMENTARISTA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CA3AF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6B7280"/>
                </a:solidFill>
                <a:latin typeface="Calibri"/>
              </a:rPr>
              <a:t>RECRUTAMENTO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1827"/>
                </a:solidFill>
                <a:latin typeface="Cambria"/>
              </a:rPr>
              <a:t>Relatórios e scout de jogadores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280"/>
                </a:solidFill>
                <a:latin typeface="Calibri"/>
              </a:rPr>
              <a:t>Da estatística acumulada à busca avançada por perfil de jogador.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5074920" cy="3749039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11580" y="2400300"/>
            <a:ext cx="777240" cy="777240"/>
          </a:xfrm>
          <a:prstGeom prst="ellipse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117" y="2586837"/>
            <a:ext cx="404164" cy="404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48840" y="25146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27"/>
                </a:solidFill>
                <a:latin typeface="Calibri"/>
              </a:rPr>
              <a:t>Relatório Geral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37560"/>
            <a:ext cx="44805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Estatísticas acumuladas por competição, time e temporada: gols, assistências, cartões, duelos, finalizações, passes-chave.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48840"/>
            <a:ext cx="5074920" cy="3749039"/>
          </a:xfrm>
          <a:prstGeom prst="roundRect">
            <a:avLst>
              <a:gd name="adj" fmla="val 5000"/>
            </a:avLst>
          </a:prstGeom>
          <a:solidFill>
            <a:srgbClr val="1A2F4E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52260" y="2400300"/>
            <a:ext cx="777240" cy="7772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agnif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797" y="2586837"/>
            <a:ext cx="404164" cy="404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89520" y="25146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Scout avançado</a:t>
            </a:r>
          </a:p>
        </p:txBody>
      </p:sp>
      <p:pic>
        <p:nvPicPr>
          <p:cNvPr id="14" name="Picture 13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401568"/>
            <a:ext cx="219456" cy="2194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03720" y="33832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D8E4F4"/>
                </a:solidFill>
                <a:latin typeface="Calibri"/>
              </a:rPr>
              <a:t>Posição e faixa de idade</a:t>
            </a:r>
          </a:p>
        </p:txBody>
      </p:sp>
      <p:pic>
        <p:nvPicPr>
          <p:cNvPr id="16" name="Picture 15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968496"/>
            <a:ext cx="219456" cy="2194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03720" y="395020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D8E4F4"/>
                </a:solidFill>
                <a:latin typeface="Calibri"/>
              </a:rPr>
              <a:t>Nota mínima e cartões máximos</a:t>
            </a:r>
          </a:p>
        </p:txBody>
      </p:sp>
      <p:pic>
        <p:nvPicPr>
          <p:cNvPr id="18" name="Picture 17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535424"/>
            <a:ext cx="219456" cy="219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03720" y="451713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D8E4F4"/>
                </a:solidFill>
                <a:latin typeface="Calibri"/>
              </a:rPr>
              <a:t>Gols, assistências, passes-chave, desarmes, dribles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20">
                <a:solidFill>
                  <a:srgbClr val="9CA3AF"/>
                </a:solidFill>
                <a:latin typeface="Calibri"/>
              </a:rPr>
              <a:t>COMENTARISTA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CA3AF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6B7280"/>
                </a:solidFill>
                <a:latin typeface="Calibri"/>
              </a:rPr>
              <a:t>COMPETIÇÕES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1827"/>
                </a:solidFill>
                <a:latin typeface="Cambria"/>
              </a:rPr>
              <a:t>Da liga nacional à Copa do Mundo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280"/>
                </a:solidFill>
                <a:latin typeface="Calibri"/>
              </a:rPr>
              <a:t>Cada formato com sua própria estrutura de grupos, mata-mata e critérios oficiais de desempate.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364992" cy="15087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0140" y="2697480"/>
            <a:ext cx="685800" cy="68580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o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732" y="2862072"/>
            <a:ext cx="356616" cy="3566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286000"/>
            <a:ext cx="1993392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27"/>
                </a:solidFill>
                <a:latin typeface="Calibri"/>
              </a:rPr>
              <a:t>Brasileirão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286000"/>
            <a:ext cx="3364992" cy="15087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13732" y="2697480"/>
            <a:ext cx="685800" cy="685800"/>
          </a:xfrm>
          <a:prstGeom prst="ellipse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o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324" y="2862072"/>
            <a:ext cx="356616" cy="3566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05272" y="2286000"/>
            <a:ext cx="1993392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27"/>
                </a:solidFill>
                <a:latin typeface="Calibri"/>
              </a:rPr>
              <a:t>Copa do Mundo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286000"/>
            <a:ext cx="3364992" cy="15087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07323" y="2697480"/>
            <a:ext cx="685800" cy="6858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ro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915" y="2862072"/>
            <a:ext cx="356616" cy="356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98864" y="2286000"/>
            <a:ext cx="1993392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27"/>
                </a:solidFill>
                <a:latin typeface="Calibri"/>
              </a:rPr>
              <a:t>Libertadores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23360"/>
            <a:ext cx="3364992" cy="15087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0140" y="4434840"/>
            <a:ext cx="685800" cy="685800"/>
          </a:xfrm>
          <a:prstGeom prst="ellipse">
            <a:avLst/>
          </a:prstGeom>
          <a:solidFill>
            <a:srgbClr val="1A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ro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732" y="4599432"/>
            <a:ext cx="356616" cy="3566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011680" y="4023360"/>
            <a:ext cx="1993392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27"/>
                </a:solidFill>
                <a:latin typeface="Calibri"/>
              </a:rPr>
              <a:t>Champions League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4023360"/>
            <a:ext cx="3364992" cy="15087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13732" y="4434840"/>
            <a:ext cx="685800" cy="685800"/>
          </a:xfrm>
          <a:prstGeom prst="ellipse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ro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324" y="4599432"/>
            <a:ext cx="356616" cy="3566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05272" y="4023360"/>
            <a:ext cx="1993392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27"/>
                </a:solidFill>
                <a:latin typeface="Calibri"/>
              </a:rPr>
              <a:t>Sul-Americana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4023360"/>
            <a:ext cx="3364992" cy="15087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07323" y="4434840"/>
            <a:ext cx="685800" cy="68580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ro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915" y="4599432"/>
            <a:ext cx="356616" cy="35661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98864" y="4023360"/>
            <a:ext cx="1993392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827"/>
                </a:solidFill>
                <a:latin typeface="Calibri"/>
              </a:rPr>
              <a:t>Copa do Brasil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20">
                <a:solidFill>
                  <a:srgbClr val="9CA3AF"/>
                </a:solidFill>
                <a:latin typeface="Calibri"/>
              </a:rPr>
              <a:t>COMENTARISTA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CA3AF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6B7280"/>
                </a:solidFill>
                <a:latin typeface="Calibri"/>
              </a:rPr>
              <a:t>INTEGRAÇÕES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11827"/>
                </a:solidFill>
                <a:latin typeface="Cambria"/>
              </a:rPr>
              <a:t>Dado atualizado sem digitar 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280"/>
                </a:solidFill>
                <a:latin typeface="Calibri"/>
              </a:rPr>
              <a:t>Sincronização automática com fontes externas de dados de futebol.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3931920" cy="23774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11827"/>
                </a:solidFill>
                <a:latin typeface="Calibri"/>
              </a:rPr>
              <a:t>API-Football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38328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Jogos, elencos, estatísticas e cores de uniforme, sincronizados automaticamente.</a:t>
            </a:r>
          </a:p>
        </p:txBody>
      </p:sp>
      <p:sp>
        <p:nvSpPr>
          <p:cNvPr id="8" name="Oval 7"/>
          <p:cNvSpPr/>
          <p:nvPr/>
        </p:nvSpPr>
        <p:spPr>
          <a:xfrm>
            <a:off x="5554980" y="3131820"/>
            <a:ext cx="1051560" cy="1051560"/>
          </a:xfrm>
          <a:prstGeom prst="ellipse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354" y="3384194"/>
            <a:ext cx="546811" cy="54681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06640" y="2468880"/>
            <a:ext cx="3931920" cy="2377440"/>
          </a:xfrm>
          <a:prstGeom prst="roundRect">
            <a:avLst>
              <a:gd name="adj" fmla="val 8000"/>
            </a:avLst>
          </a:prstGeom>
          <a:solidFill>
            <a:srgbClr val="1A2F4E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28346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Transfermarkt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38328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8E4F4"/>
                </a:solidFill>
                <a:latin typeface="Calibri"/>
              </a:rPr>
              <a:t>Dados complementares de jogadores e treinadores, com log completo de cada sincronização.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20">
                <a:solidFill>
                  <a:srgbClr val="9CA3AF"/>
                </a:solidFill>
                <a:latin typeface="Calibri"/>
              </a:rPr>
              <a:t>COMENTARISTA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CA3AF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6B7280"/>
                </a:solidFill>
                <a:latin typeface="Calibri"/>
              </a:rPr>
              <a:t>ACESSO E PÚBLICO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1827"/>
                </a:solidFill>
                <a:latin typeface="Cambria"/>
              </a:rPr>
              <a:t>Multiusuário, seguro, feito para o seu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5074920" cy="3977639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57300" y="2263140"/>
            <a:ext cx="777240" cy="777240"/>
          </a:xfrm>
          <a:prstGeom prst="ellipse">
            <a:avLst/>
          </a:prstGeom>
          <a:solidFill>
            <a:srgbClr val="1A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837" y="2449677"/>
            <a:ext cx="404164" cy="4041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94560" y="23317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Calibri"/>
              </a:rPr>
              <a:t>Login protegido e perfis de acesso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44805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Autenticação com bloqueio por tentativas, administradores com permissões próprias, e critérios de avaliação individuais por usuário — cada analista trabalha com seu padrão, no mesmo sistema.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074920" cy="3977639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  <a:effectLst>
            <a:outerShdw blurRad="90000" dist="25000" dir="5400000" rotWithShape="0">
              <a:srgbClr val="0A162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00">
                <a:solidFill>
                  <a:srgbClr val="85B7EB"/>
                </a:solidFill>
                <a:latin typeface="Calibri"/>
              </a:rPr>
              <a:t>Para quem é</a:t>
            </a:r>
          </a:p>
        </p:txBody>
      </p:sp>
      <p:sp>
        <p:nvSpPr>
          <p:cNvPr id="11" name="Oval 10"/>
          <p:cNvSpPr/>
          <p:nvPr/>
        </p:nvSpPr>
        <p:spPr>
          <a:xfrm>
            <a:off x="6757416" y="2734056"/>
            <a:ext cx="658368" cy="658368"/>
          </a:xfrm>
          <a:prstGeom prst="ellipse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424" y="2892064"/>
            <a:ext cx="342351" cy="3423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35240" y="277063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Comissão técnica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1089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9C5D6"/>
                </a:solidFill>
                <a:latin typeface="Calibri"/>
              </a:rPr>
              <a:t>escalação, tática e desempenho</a:t>
            </a:r>
          </a:p>
        </p:txBody>
      </p:sp>
      <p:sp>
        <p:nvSpPr>
          <p:cNvPr id="15" name="Oval 14"/>
          <p:cNvSpPr/>
          <p:nvPr/>
        </p:nvSpPr>
        <p:spPr>
          <a:xfrm>
            <a:off x="6757416" y="3630168"/>
            <a:ext cx="658368" cy="658368"/>
          </a:xfrm>
          <a:prstGeom prst="ellipse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er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424" y="3788176"/>
            <a:ext cx="342351" cy="34235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35240" y="3666744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Analistas e comentaristas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00507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9C5D6"/>
                </a:solidFill>
                <a:latin typeface="Calibri"/>
              </a:rPr>
              <a:t>conteúdo com dado real</a:t>
            </a:r>
          </a:p>
        </p:txBody>
      </p:sp>
      <p:sp>
        <p:nvSpPr>
          <p:cNvPr id="19" name="Oval 18"/>
          <p:cNvSpPr/>
          <p:nvPr/>
        </p:nvSpPr>
        <p:spPr>
          <a:xfrm>
            <a:off x="6757416" y="4526280"/>
            <a:ext cx="658368" cy="658368"/>
          </a:xfrm>
          <a:prstGeom prst="ellipse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agnif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424" y="4684288"/>
            <a:ext cx="342351" cy="3423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35240" y="456285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Diretores de futebol e scouts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4901184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9C5D6"/>
                </a:solidFill>
                <a:latin typeface="Calibri"/>
              </a:rPr>
              <a:t>recrutamento orientado por número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20">
                <a:solidFill>
                  <a:srgbClr val="9CA3AF"/>
                </a:solidFill>
                <a:latin typeface="Calibri"/>
              </a:rPr>
              <a:t>COMENTARISTA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CA3A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39" y="-274320"/>
            <a:ext cx="2926080" cy="2926080"/>
          </a:xfrm>
          <a:prstGeom prst="ellipse">
            <a:avLst/>
          </a:prstGeom>
          <a:noFill/>
          <a:ln w="12700">
            <a:solidFill>
              <a:srgbClr val="24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6307" y="720547"/>
            <a:ext cx="936345" cy="936345"/>
          </a:xfrm>
          <a:prstGeom prst="ellipse">
            <a:avLst/>
          </a:prstGeom>
          <a:noFill/>
          <a:ln w="12700">
            <a:solidFill>
              <a:srgbClr val="24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91439" y="1188720"/>
            <a:ext cx="2926081" cy="0"/>
          </a:xfrm>
          <a:prstGeom prst="line">
            <a:avLst/>
          </a:prstGeom>
          <a:ln w="12700">
            <a:solidFill>
              <a:srgbClr val="24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707684" y="1943100"/>
            <a:ext cx="777240" cy="777240"/>
          </a:xfrm>
          <a:prstGeom prst="ellipse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222" y="2129637"/>
            <a:ext cx="404164" cy="4041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288036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COMENTARISTA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749039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1">
                <a:solidFill>
                  <a:srgbClr val="CADCFC"/>
                </a:solidFill>
                <a:latin typeface="Calibri"/>
              </a:rPr>
              <a:t>Análise de futebol, sem planilha.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90872" y="4343400"/>
            <a:ext cx="2834640" cy="566928"/>
          </a:xfrm>
          <a:prstGeom prst="roundRect">
            <a:avLst>
              <a:gd name="adj" fmla="val 50000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4343400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Agende uma demonstração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6E84A6"/>
                </a:solidFill>
                <a:latin typeface="Calibri"/>
              </a:rPr>
              <a:t>[ contato / site / e-mail comercial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